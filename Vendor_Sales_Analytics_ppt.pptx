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>
        <p:scale>
          <a:sx n="110" d="100"/>
          <a:sy n="110" d="100"/>
        </p:scale>
        <p:origin x="197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272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project. This is an end-to-end analytics pipeline project covering 2.6M+ rows of beverage retail data — from raw CSV ingestion to a Power BI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5 major phases: ingestion, SQL transform, EDA, analysis, dashboarding.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biggest table is purchases at 2.37M rows — this drives most of the analysis. The pipeline ingested all 5 files in ~210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 numerical columns plotted. Key observations: highly skewed distributions for purchase/sales dollars, freight cost, and profit margin (has -inf values). This guided the filtering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Outliers in freight, purchase price, and stock turnover are real business phenomena — not data errors. These were kept in the dataset; only loss-making records were filtered.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filtering step removed records with zero or negative margins. This cleaned dataset (8,564 rows) is what powers all subsequent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0.999 correlation between purchase and sales quantity is the standout — it confirms very efficient inventory management. The weak correlations with price are counter-intuitive but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DIAGEO dominates at $68M. The top brand Jack Daniels No.7 does $7.96M alone. Note the concentration — just 10 brands account for a huge share of total sales.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DIAGEO is nearly double the #2 vendor in total sales. The purchase contribution column shows procurement concentration — top 2 alone = 24.6%.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classic 80/20 Pareto principle. Concentration at this level creates procurement risk — if DIAGEO supply is disrupted, 16% of revenue is at immediate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donut chart makes the concentration visually clear — the 'Other Vendors' slice (34.31%) is spread across 109 vendors, while the top 10 take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198 brands are in this quadrant. Crown Royal Apple has an 89.81% margin but only $27.86 in sales — it just needs visibility. Even a small sales increase generates outsized profit given the margin.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72% price reduction from Small to Large orders is enormous. Vendors placing Large orders pay $10.78/unit vs $39.07 for Small. This is a strong incentive to consolidate orders.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DIAGEO has $722K of unsold inventory — the same vendor that has the highest procurement spend. This suggests their supply planning needs tighter alignment with actual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Counter-intuitive result: low-volume vendors have significantly higher profit margins. This is real and statistically confirmed — they likely operate niche/premium segments with less price competition.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= 0.0000 is highly significant. The t-stat of -17.67 is enormous — this is one of the strongest findings in the project. Low-volume vendors consistently price at a premium.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5 recommendations are all directly backed by data from the analysis. Each has a clear action and a quantifiable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up. Offer to walk through any specific slide in more detail. Mention that all code is available on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0" y="-457200"/>
            <a:ext cx="4114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0" b="1" dirty="0">
                <a:solidFill>
                  <a:srgbClr val="CADCFC">
                    <a:alpha val="1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kern="0" spc="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SALES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kern="0" spc="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ANALYTICS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Analytics Portfolio Project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1920240" cy="411480"/>
          </a:xfrm>
          <a:prstGeom prst="roundRect">
            <a:avLst>
              <a:gd name="adj" fmla="val 44444"/>
            </a:avLst>
          </a:prstGeom>
          <a:solidFill>
            <a:srgbClr val="0D9488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017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42032" y="3017520"/>
            <a:ext cx="1920240" cy="411480"/>
          </a:xfrm>
          <a:prstGeom prst="roundRect">
            <a:avLst>
              <a:gd name="adj" fmla="val 44444"/>
            </a:avLst>
          </a:prstGeom>
          <a:solidFill>
            <a:srgbClr val="2E75B6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542032" y="3017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3017520"/>
            <a:ext cx="1920240" cy="411480"/>
          </a:xfrm>
          <a:prstGeom prst="roundRect">
            <a:avLst>
              <a:gd name="adj" fmla="val 44444"/>
            </a:avLst>
          </a:prstGeom>
          <a:solidFill>
            <a:srgbClr val="6D28D9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626864" y="3017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11696" y="3017520"/>
            <a:ext cx="1920240" cy="411480"/>
          </a:xfrm>
          <a:prstGeom prst="roundRect">
            <a:avLst>
              <a:gd name="adj" fmla="val 44444"/>
            </a:avLst>
          </a:prstGeom>
          <a:solidFill>
            <a:srgbClr val="C2410C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711696" y="3017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Mohith  ·  Senior Test Analyst  |  Transitioning to Data Analytics  ·  Cognizant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covers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1572768" cy="3337560"/>
          </a:xfrm>
          <a:prstGeom prst="roundRect">
            <a:avLst>
              <a:gd name="adj" fmla="val 3488"/>
            </a:avLst>
          </a:prstGeom>
          <a:solidFill>
            <a:srgbClr val="D6E4F7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1572768" cy="47548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7043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13898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212848"/>
            <a:ext cx="138988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→ PostgreSQL pipeline with Python logging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039112" y="1143000"/>
            <a:ext cx="1572768" cy="3337560"/>
          </a:xfrm>
          <a:prstGeom prst="roundRect">
            <a:avLst>
              <a:gd name="adj" fmla="val 3488"/>
            </a:avLst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39112" y="1143000"/>
            <a:ext cx="1572768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039112" y="117043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30552" y="1691640"/>
            <a:ext cx="13898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Transformation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30552" y="2212848"/>
            <a:ext cx="138988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3-CTE query to build vendor_sales_summary table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758184" y="1143000"/>
            <a:ext cx="1572768" cy="3337560"/>
          </a:xfrm>
          <a:prstGeom prst="roundRect">
            <a:avLst>
              <a:gd name="adj" fmla="val 3488"/>
            </a:avLst>
          </a:prstGeom>
          <a:solidFill>
            <a:srgbClr val="FFEDD5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58184" y="1143000"/>
            <a:ext cx="1572768" cy="47548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17" name="Text 15"/>
          <p:cNvSpPr/>
          <p:nvPr/>
        </p:nvSpPr>
        <p:spPr>
          <a:xfrm>
            <a:off x="3758184" y="117043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49624" y="1691640"/>
            <a:ext cx="13898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&amp; Cleaning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9624" y="2212848"/>
            <a:ext cx="138988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detection, distributions, correlation heatmap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77256" y="1143000"/>
            <a:ext cx="1572768" cy="3337560"/>
          </a:xfrm>
          <a:prstGeom prst="roundRect">
            <a:avLst>
              <a:gd name="adj" fmla="val 3488"/>
            </a:avLst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77256" y="1143000"/>
            <a:ext cx="1572768" cy="47548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2" name="Text 20"/>
          <p:cNvSpPr/>
          <p:nvPr/>
        </p:nvSpPr>
        <p:spPr>
          <a:xfrm>
            <a:off x="5477256" y="117043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68696" y="1691640"/>
            <a:ext cx="13898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&amp; Stats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68696" y="2212848"/>
            <a:ext cx="138988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Pareto, segmentation, CI, hypothesis testing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96328" y="1143000"/>
            <a:ext cx="1572768" cy="3337560"/>
          </a:xfrm>
          <a:prstGeom prst="roundRect">
            <a:avLst>
              <a:gd name="adj" fmla="val 3488"/>
            </a:avLst>
          </a:prstGeom>
          <a:solidFill>
            <a:srgbClr val="FFE4E6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96328" y="1143000"/>
            <a:ext cx="1572768" cy="475488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27" name="Text 25"/>
          <p:cNvSpPr/>
          <p:nvPr/>
        </p:nvSpPr>
        <p:spPr>
          <a:xfrm>
            <a:off x="7196328" y="117043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287768" y="1691640"/>
            <a:ext cx="13898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E1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287768" y="2212848"/>
            <a:ext cx="138988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PostgreSQL connection — interactive KPIs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at a Glance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raw CSVs · 2.6M+ rows · PostgreSQL inventory database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645920" cy="1371600"/>
          </a:xfrm>
          <a:prstGeom prst="roundRect">
            <a:avLst>
              <a:gd name="adj" fmla="val 4000"/>
            </a:avLst>
          </a:prstGeom>
          <a:solidFill>
            <a:srgbClr val="D6E4F7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70432"/>
            <a:ext cx="16459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2.6M+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0040" y="1892808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 ingested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03120" y="1097280"/>
            <a:ext cx="1645920" cy="1371600"/>
          </a:xfrm>
          <a:prstGeom prst="roundRect">
            <a:avLst>
              <a:gd name="adj" fmla="val 4000"/>
            </a:avLst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03120" y="1170432"/>
            <a:ext cx="16459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103120" y="1892808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CSV files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86200" y="1097280"/>
            <a:ext cx="1645920" cy="1371600"/>
          </a:xfrm>
          <a:prstGeom prst="roundRect">
            <a:avLst>
              <a:gd name="adj" fmla="val 4000"/>
            </a:avLst>
          </a:prstGeom>
          <a:solidFill>
            <a:srgbClr val="FFEDD5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86200" y="1170432"/>
            <a:ext cx="16459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119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886200" y="1892808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vendors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1097280"/>
            <a:ext cx="1645920" cy="137160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0" y="1170432"/>
            <a:ext cx="16459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669280" y="1892808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in summary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52360" y="1097280"/>
            <a:ext cx="1645920" cy="1371600"/>
          </a:xfrm>
          <a:prstGeom prst="roundRect">
            <a:avLst>
              <a:gd name="adj" fmla="val 4000"/>
            </a:avLst>
          </a:prstGeom>
          <a:solidFill>
            <a:srgbClr val="FFE4E6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52360" y="1170432"/>
            <a:ext cx="16459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E1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452360" y="1892808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KPIs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651760"/>
          <a:ext cx="8503920" cy="21945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File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Rows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 Columns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purchases.csv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2,372,474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VendorNumber, Brand, PurchasePrice, Quantity, Dollars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purchase_prices.csv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12,261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Brand, Description, Price, Volume, PurchasePrice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vendor_invoice.csv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5,543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VendorNumber, Quantity, Dollars, Freight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end_inventory.csv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224,489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InventoryId, Store, City, Brand, onHand, Price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begin_inventory.csv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~224K+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Opening stock positions — same schema as end_inventory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1645920"/>
            <a:ext cx="329184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ADCFC">
                    <a:alpha val="3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71600" y="26060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distributions, outliers, and data quality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of All Numerical Columns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Histograms with KDE — raw data before filtering</a:t>
            </a:r>
            <a:endParaRPr lang="en-US" sz="1300" dirty="0"/>
          </a:p>
        </p:txBody>
      </p:sp>
      <p:pic>
        <p:nvPicPr>
          <p:cNvPr id="5" name="Image 0" descr="/home/claude/charts/07_distribution_plot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24128"/>
            <a:ext cx="8503920" cy="38221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Detection — Box Plots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anomalies before analysis</a:t>
            </a:r>
            <a:endParaRPr lang="en-US" sz="1300" dirty="0"/>
          </a:p>
        </p:txBody>
      </p:sp>
      <p:pic>
        <p:nvPicPr>
          <p:cNvPr id="5" name="Image 0" descr="/home/claude/charts/08_boxplot_outlier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24128"/>
            <a:ext cx="4846320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49240" y="1051560"/>
            <a:ext cx="3474720" cy="896112"/>
          </a:xfrm>
          <a:prstGeom prst="roundRect">
            <a:avLst>
              <a:gd name="adj" fmla="val 6122"/>
            </a:avLst>
          </a:prstGeom>
          <a:solidFill>
            <a:srgbClr val="FFE4E6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40680" y="11064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GrossProfit min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40680" y="13258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−$52,003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40680" y="163677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products sell at a loss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349240" y="2075688"/>
            <a:ext cx="3474720" cy="896112"/>
          </a:xfrm>
          <a:prstGeom prst="roundRect">
            <a:avLst>
              <a:gd name="adj" fmla="val 6122"/>
            </a:avLst>
          </a:prstGeom>
          <a:solidFill>
            <a:srgbClr val="FFEDD5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440680" y="21305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FreightCost range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40680" y="235000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$0.09 → $257K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40680" y="266090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logistics variance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349240" y="3099816"/>
            <a:ext cx="3474720" cy="896112"/>
          </a:xfrm>
          <a:prstGeom prst="roundRect">
            <a:avLst>
              <a:gd name="adj" fmla="val 6122"/>
            </a:avLst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440680" y="3154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StockTurnover max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40680" y="337413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274.5×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440680" y="368503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&gt;1 = drawing from old stock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349240" y="4123944"/>
            <a:ext cx="3474720" cy="896112"/>
          </a:xfrm>
          <a:prstGeom prst="roundRect">
            <a:avLst>
              <a:gd name="adj" fmla="val 6122"/>
            </a:avLst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440680" y="41788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PurchasePrice max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40680" y="439826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$5,682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440680" y="470916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Premium/specialty products exist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Summary — After Filtering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Filtered: GrossProfit &gt; 0 · ProfitMargin &gt; 0 · SalesQuantity &gt; 0</a:t>
            </a:r>
            <a:endParaRPr lang="en-US" sz="1300" dirty="0"/>
          </a:p>
        </p:txBody>
      </p:sp>
      <p:pic>
        <p:nvPicPr>
          <p:cNvPr id="5" name="Image 0" descr="/home/claude/charts/11_distribution_after_filt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24128"/>
            <a:ext cx="5029200" cy="3337560"/>
          </a:xfrm>
          <a:prstGeom prst="rect">
            <a:avLst/>
          </a:prstGeom>
        </p:spPr>
      </p:pic>
      <p:pic>
        <p:nvPicPr>
          <p:cNvPr id="6" name="Image 1" descr="/home/claude/charts/12_countplot_categorical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40680" y="1024128"/>
            <a:ext cx="3383280" cy="21945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40680" y="333756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removing loss-making &amp; unsold records, distributions become cleaner. The count plots confirm heavy concentration in a small set of vendors and products.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1645920"/>
            <a:ext cx="329184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ADCFC">
                    <a:alpha val="3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Analysis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71600" y="26060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purchase, sales, and profit metrics relate?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Heatmap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correlations across all numerical columns</a:t>
            </a:r>
            <a:endParaRPr lang="en-US" sz="1300" dirty="0"/>
          </a:p>
        </p:txBody>
      </p:sp>
      <p:pic>
        <p:nvPicPr>
          <p:cNvPr id="5" name="Image 0" descr="/home/claude/charts/13_correlation_heatma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24128"/>
            <a:ext cx="475488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212080" y="1051560"/>
            <a:ext cx="3657600" cy="886968"/>
          </a:xfrm>
          <a:prstGeom prst="roundRect">
            <a:avLst>
              <a:gd name="adj" fmla="val 6186"/>
            </a:avLst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321808" y="11064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PurchaseQty ↔ SalesQty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635240" y="1088136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0.999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321808" y="1453896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— almost all purchased stock is sold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212080" y="2075688"/>
            <a:ext cx="3657600" cy="886968"/>
          </a:xfrm>
          <a:prstGeom prst="roundRect">
            <a:avLst>
              <a:gd name="adj" fmla="val 6186"/>
            </a:avLst>
          </a:prstGeom>
          <a:solidFill>
            <a:srgbClr val="FFEDD5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321808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PurchasePrice ↔ Sales $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635240" y="2112264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−0.012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321808" y="247802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doesn't drive revenue — volume does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212080" y="3099816"/>
            <a:ext cx="3657600" cy="886968"/>
          </a:xfrm>
          <a:prstGeom prst="roundRect">
            <a:avLst>
              <a:gd name="adj" fmla="val 6186"/>
            </a:avLst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321808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StockTurnover ↔ Margin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635240" y="313639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−0.055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321808" y="3502152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turnover ≠ higher profitability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212080" y="4123944"/>
            <a:ext cx="3657600" cy="886968"/>
          </a:xfrm>
          <a:prstGeom prst="roundRect">
            <a:avLst>
              <a:gd name="adj" fmla="val 6186"/>
            </a:avLst>
          </a:prstGeom>
          <a:solidFill>
            <a:srgbClr val="FFE4E6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321808" y="4178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PurchasePrice ↔ Profit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635240" y="41605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BE1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−0.016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5321808" y="452628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unit price doesn't mean more gross profit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1645920"/>
            <a:ext cx="329184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ADCFC">
                    <a:alpha val="3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&amp; Brand Performance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71600" y="26060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drives the most revenue?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Vendors &amp; Brands by Sales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Total Sales Dollars</a:t>
            </a:r>
            <a:endParaRPr lang="en-US" sz="1300" dirty="0"/>
          </a:p>
        </p:txBody>
      </p:sp>
      <p:pic>
        <p:nvPicPr>
          <p:cNvPr id="5" name="Image 0" descr="/home/claude/charts/28_top_vendors_brands_ba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24128"/>
            <a:ext cx="8503920" cy="3776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Vendor Leaderboard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Total Sales $ — with Purchase Contribution %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78992"/>
          <a:ext cx="8503920" cy="3749042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08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Vendor Name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Sales $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Purchase Contribution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Purchase $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DIAGEO NORTH AMERICA INC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$67.99M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16.30%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$50.10M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MARTIGNETTI COMPANIES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$39.33M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8.30%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$25.50M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PERNOD RICARD USA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$32.06M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7.76%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$23.85M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JIM BEAM BRANDS COMPANY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$31.42M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7.64%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$23.49M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BACARDI USA INC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$24.85M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5.67%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$17.43M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CONSTELLATION BRANDS INC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$24.22M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4.97%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$15.27M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E &amp; J GALLO WINERY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$18.40M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3.93%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$12.07M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BROWN-FORMAN CORP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$18.25M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4.31%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$13.24M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ULTRA BEVERAGE COMPANY LLP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$16.50M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3.63%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$11.17M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M S WALKER INC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$14.71M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3.18%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$9.76M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1645920"/>
            <a:ext cx="329184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ADCFC">
                    <a:alpha val="3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Purchase Concentration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71600" y="26060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analysis across 119 vendors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Pareto Chart — Vendor Purchase Contribution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vendors account for 65.69% of total procurement spend</a:t>
            </a:r>
            <a:endParaRPr lang="en-US" sz="1300" dirty="0"/>
          </a:p>
        </p:txBody>
      </p:sp>
      <p:pic>
        <p:nvPicPr>
          <p:cNvPr id="5" name="Image 0" descr="/home/claude/charts/41_pareto_vendor_contribu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24128"/>
            <a:ext cx="502920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77840" y="1097280"/>
            <a:ext cx="3246120" cy="1463040"/>
          </a:xfrm>
          <a:prstGeom prst="roundRect">
            <a:avLst>
              <a:gd name="adj" fmla="val 3750"/>
            </a:avLst>
          </a:prstGeom>
          <a:solidFill>
            <a:srgbClr val="D6E4F7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577840" y="114300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65.69%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577840" y="19202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procurement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top 10 of 119 vendors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577840" y="2743200"/>
            <a:ext cx="3246120" cy="1920240"/>
          </a:xfrm>
          <a:prstGeom prst="roundRect">
            <a:avLst>
              <a:gd name="adj" fmla="val 2857"/>
            </a:avLst>
          </a:prstGeom>
          <a:solidFill>
            <a:srgbClr val="FFEDD5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69280" y="28163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Risk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669280" y="3218688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DIAGEO alone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for 16.3%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purchasing.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 Concentration — Donut 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breakdown of top 10 vs all other vendors</a:t>
            </a:r>
            <a:endParaRPr lang="en-US" sz="1300" dirty="0"/>
          </a:p>
        </p:txBody>
      </p:sp>
      <p:pic>
        <p:nvPicPr>
          <p:cNvPr id="5" name="Image 0" descr="/home/claude/charts/44_donut_purchase_contribu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0" y="1024128"/>
            <a:ext cx="6400800" cy="382219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1645920"/>
            <a:ext cx="329184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ADCFC">
                    <a:alpha val="3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Promotional Opportunity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71600" y="26060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sales · High margin brands need attention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Brands Needing Promotions or Pricing Adjustment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Low-sales / high-margin quadrant — 198 target brands identified</a:t>
            </a:r>
            <a:endParaRPr lang="en-US" sz="1300" dirty="0"/>
          </a:p>
        </p:txBody>
      </p:sp>
      <p:pic>
        <p:nvPicPr>
          <p:cNvPr id="5" name="Image 0" descr="/home/claude/charts/21_scatter_promo_brand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24128"/>
            <a:ext cx="530352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0" y="1051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852160" y="138988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Sales: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15th pct.  ($560.30)
</a:t>
            </a: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Margin: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85th pct.  (64.97%)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52160" y="233172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Target Brands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852160" y="2651760"/>
            <a:ext cx="2971800" cy="530352"/>
          </a:xfrm>
          <a:prstGeom prst="roundRect">
            <a:avLst>
              <a:gd name="adj" fmla="val 10345"/>
            </a:avLst>
          </a:prstGeom>
          <a:solidFill>
            <a:srgbClr val="FFE4E6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43600" y="26883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Crown Royal Apple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943600" y="29260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Sales: $27.86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178040" y="29260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89.81%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852160" y="3246120"/>
            <a:ext cx="2971800" cy="530352"/>
          </a:xfrm>
          <a:prstGeom prst="roundRect">
            <a:avLst>
              <a:gd name="adj" fmla="val 10345"/>
            </a:avLst>
          </a:prstGeom>
          <a:solidFill>
            <a:srgbClr val="FFEDD5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943600" y="32826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Sauza Sprklg Wild Berry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943600" y="35204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Sales: $27.96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178040" y="35204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82.15%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852160" y="3840480"/>
            <a:ext cx="2971800" cy="530352"/>
          </a:xfrm>
          <a:prstGeom prst="roundRect">
            <a:avLst>
              <a:gd name="adj" fmla="val 10345"/>
            </a:avLst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943600" y="38770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Dad's Hat Rye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943600" y="41148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Sales: $538.89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178040" y="41148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81.85%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852160" y="4434840"/>
            <a:ext cx="2971800" cy="530352"/>
          </a:xfrm>
          <a:prstGeom prst="roundRect">
            <a:avLst>
              <a:gd name="adj" fmla="val 10345"/>
            </a:avLst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943600" y="44714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Concannon Glen Ellen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943600" y="47091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Sales: $15.95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178040" y="47091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83.45%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1645920"/>
            <a:ext cx="329184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ADCFC">
                    <a:alpha val="3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Bulk Pricing Impact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71600" y="26060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order size affect unit cost?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Cost by Order Size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Quantile-based segmentation: Small / Medium / Large</a:t>
            </a:r>
            <a:endParaRPr lang="en-US" sz="1300" dirty="0"/>
          </a:p>
        </p:txBody>
      </p:sp>
      <p:pic>
        <p:nvPicPr>
          <p:cNvPr id="5" name="Image 0" descr="/home/claude/charts/50_boxplot_bulk_prici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24128"/>
            <a:ext cx="484632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49240" y="1097280"/>
            <a:ext cx="3474720" cy="987552"/>
          </a:xfrm>
          <a:prstGeom prst="roundRect">
            <a:avLst>
              <a:gd name="adj" fmla="val 5556"/>
            </a:avLst>
          </a:prstGeom>
          <a:solidFill>
            <a:srgbClr val="FFE4E6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40680" y="11521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Orders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40680" y="14173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$39.07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440680" y="18470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unit cost  —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349240" y="2221992"/>
            <a:ext cx="3474720" cy="987552"/>
          </a:xfrm>
          <a:prstGeom prst="roundRect">
            <a:avLst>
              <a:gd name="adj" fmla="val 5556"/>
            </a:avLst>
          </a:prstGeom>
          <a:solidFill>
            <a:srgbClr val="FFEDD5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440680" y="22768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Orders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40680" y="25420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$15.49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440680" y="29718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unit cost  ↓ 60%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349240" y="3337560"/>
            <a:ext cx="3474720" cy="987552"/>
          </a:xfrm>
          <a:prstGeom prst="roundRect">
            <a:avLst>
              <a:gd name="adj" fmla="val 5556"/>
            </a:avLst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440680" y="33924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Orders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40680" y="36576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$10.78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5440680" y="40873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unit cost  ↓ 72%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1645920"/>
            <a:ext cx="329184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ADCFC">
                    <a:alpha val="3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Unsold Inventory Risk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71600" y="26060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tied up in slow-moving stock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Unsold Inventory by Vendor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UnsoldValue = (PurchaseQty − SalesQty) × PurchasePrice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2103120" cy="1325880"/>
          </a:xfrm>
          <a:prstGeom prst="roundRect">
            <a:avLst>
              <a:gd name="adj" fmla="val 4138"/>
            </a:avLst>
          </a:prstGeom>
          <a:solidFill>
            <a:srgbClr val="FFE4E6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15568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E1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$2.71M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1828800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unsold inventory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vendors</a:t>
            </a:r>
            <a:endParaRPr lang="en-US" sz="10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1078992"/>
          <a:ext cx="6217920" cy="3749042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Vendor Name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Unsold Value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DIAGEO NORTH AMERICA INC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BE123C"/>
                          </a:solidFill>
                        </a:rPr>
                        <a:t>$722.21K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JIM BEAM BRANDS COMPANY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BE123C"/>
                          </a:solidFill>
                        </a:rPr>
                        <a:t>$554.67K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PERNOD RICARD USA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BE123C"/>
                          </a:solidFill>
                        </a:rPr>
                        <a:t>$470.63K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WILLIAM GRANT &amp; SONS INC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BE123C"/>
                          </a:solidFill>
                        </a:rPr>
                        <a:t>$401.96K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E &amp; J GALLO WINERY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BE123C"/>
                          </a:solidFill>
                        </a:rPr>
                        <a:t>$228.28K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SAZERAC CO INC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BE123C"/>
                          </a:solidFill>
                        </a:rPr>
                        <a:t>$198.44K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BROWN-FORMAN CORP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BE123C"/>
                          </a:solidFill>
                        </a:rPr>
                        <a:t>$177.73K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CONSTELLATION BRANDS INC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BE123C"/>
                          </a:solidFill>
                        </a:rPr>
                        <a:t>$133.62K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MOET HENNESSY USA INC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BE123C"/>
                          </a:solidFill>
                        </a:rPr>
                        <a:t>$126.48K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REMY COINTREAU USA INC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BE123C"/>
                          </a:solidFill>
                        </a:rPr>
                        <a:t>$118.60K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1645920"/>
            <a:ext cx="329184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ADCFC">
                    <a:alpha val="3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Analysis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71600" y="26060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intervals · Hypothesis testing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 Margin: Top vs Low-Performing Vendors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Confidence Intervals — t-distribution (Welch's two-sample t-test)</a:t>
            </a:r>
            <a:endParaRPr lang="en-US" sz="1300" dirty="0"/>
          </a:p>
        </p:txBody>
      </p:sp>
      <p:pic>
        <p:nvPicPr>
          <p:cNvPr id="5" name="Image 0" descr="/home/claude/charts/60_confidence_interval_margin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24128"/>
            <a:ext cx="539496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97880" y="1097280"/>
            <a:ext cx="2926080" cy="1417320"/>
          </a:xfrm>
          <a:prstGeom prst="roundRect">
            <a:avLst>
              <a:gd name="adj" fmla="val 3871"/>
            </a:avLst>
          </a:prstGeom>
          <a:solidFill>
            <a:srgbClr val="D6E4F7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89320" y="11521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Top-Performing Vendors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4447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Mean: ~31.2%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177393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CI: 30.74% – 31.61%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97880" y="2697480"/>
            <a:ext cx="2926080" cy="1417320"/>
          </a:xfrm>
          <a:prstGeom prst="roundRect">
            <a:avLst>
              <a:gd name="adj" fmla="val 3871"/>
            </a:avLst>
          </a:prstGeom>
          <a:solidFill>
            <a:srgbClr val="FFE4E6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989320" y="27523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Low-Performing Vendors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89320" y="30449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E1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Mean: ~41.6%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989320" y="337413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CI: 40.48% – 42.62%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 Test — Is the Margin Difference Real?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Two-Sample t-Test (Welch's, equal_var=False)  ·  scipy.stats.ttest_ind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160520" cy="1874520"/>
          </a:xfrm>
          <a:prstGeom prst="roundRect">
            <a:avLst>
              <a:gd name="adj" fmla="val 2927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4300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H₀ (Null Hypothesis)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difference in mean profit margins between top-performing and low-performing vendors.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26771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H₁ (Alternative Hypothesis)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15184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significant difference exists in profit margins between the two groups.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78992"/>
            <a:ext cx="4160520" cy="1874520"/>
          </a:xfrm>
          <a:prstGeom prst="roundRect">
            <a:avLst>
              <a:gd name="adj" fmla="val 2927"/>
            </a:avLst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11430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Results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5361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T-Statistic: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14904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−17.6695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00600" y="19202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1874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00600" y="23317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0.05 significance level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090672"/>
            <a:ext cx="8503920" cy="1371600"/>
          </a:xfrm>
          <a:prstGeom prst="roundRect">
            <a:avLst>
              <a:gd name="adj" fmla="val 4000"/>
            </a:avLst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90672"/>
            <a:ext cx="411480" cy="137160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163824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Reject H₀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3611880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Low-performing vendors have statistically significantly higher profit margins (40–43%) than top-performing vendors (30–32%). p-value of 0.0000 means this result would occur by chance less than 1 in 10,000 times.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1645920"/>
            <a:ext cx="329184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ADCFC">
                    <a:alpha val="3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&amp; Recommendations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71600" y="26060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 to do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Key Business Recommendations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analysis of 2.6M+ rows of vendor sales data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3977640" cy="1188720"/>
          </a:xfrm>
          <a:prstGeom prst="roundRect">
            <a:avLst>
              <a:gd name="adj" fmla="val 4615"/>
            </a:avLst>
          </a:prstGeom>
          <a:solidFill>
            <a:srgbClr val="FFE4E6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7043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E1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Reduce Vendor Concentration Risk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of 119 vendors = 65.69% of procurement. Develop backup suppliers; negotiate multi-year contracts with top 3.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423160"/>
            <a:ext cx="3977640" cy="1188720"/>
          </a:xfrm>
          <a:prstGeom prst="roundRect">
            <a:avLst>
              <a:gd name="adj" fmla="val 4615"/>
            </a:avLst>
          </a:prstGeom>
          <a:solidFill>
            <a:srgbClr val="FFEDD5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49631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Audit Pricing for Top Vendors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862072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vendors earn only 31% margin vs 41% for low-volume vendors (p=0.0000). Selective price adjustments could recover millions.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3749040"/>
            <a:ext cx="3977640" cy="1188720"/>
          </a:xfrm>
          <a:prstGeom prst="roundRect">
            <a:avLst>
              <a:gd name="adj" fmla="val 4615"/>
            </a:avLst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82219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Invest in Promotional Opportunity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87952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 brands with 65–90% margins but minimal sales. Crown Royal Apple (89.81% margin) is the highest-priority target.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1097280"/>
            <a:ext cx="3977640" cy="1188720"/>
          </a:xfrm>
          <a:prstGeom prst="roundRect">
            <a:avLst>
              <a:gd name="adj" fmla="val 4615"/>
            </a:avLst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17043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Encourage Bulk Order Consolidation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1536192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orders cost 72% less per unit ($10.78) vs Small ($39.07). Communicate bulk pricing tiers to medium-tier vendors.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32020" y="2423160"/>
            <a:ext cx="3977640" cy="1188720"/>
          </a:xfrm>
          <a:prstGeom prst="roundRect">
            <a:avLst>
              <a:gd name="adj" fmla="val 4615"/>
            </a:avLst>
          </a:prstGeom>
          <a:solidFill>
            <a:srgbClr val="D6E4F7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69180" y="249631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 Clear $2.71M Unsold Inventory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69180" y="2862072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DIAGEO ($722K), JIM BEAM ($555K), PERNOD ($471K) carry highest risk. Run clearance campaigns; revise reorder quantities.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914400" y="157276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discuss the data.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77240" y="2377440"/>
            <a:ext cx="274320" cy="274320"/>
          </a:xfrm>
          <a:prstGeom prst="lin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2286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CSV → PostgreSQL → Python → Power BI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2907792"/>
            <a:ext cx="274320" cy="274320"/>
          </a:xfrm>
          <a:prstGeom prst="lin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81635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2.6M+ rows processed · 119 vendors · 4 engineered KPIs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3438144"/>
            <a:ext cx="274320" cy="274320"/>
          </a:xfrm>
          <a:prstGeom prst="lin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3346704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testing confirms key findings (p = 0.0000)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968496"/>
            <a:ext cx="274320" cy="274320"/>
          </a:xfrm>
          <a:prstGeom prst="lin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877056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charts and tables built from real notebook outputs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Mohith  ·  Data Analytics Portfolio  ·  Cognizant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1826</Words>
  <Application>Microsoft Office PowerPoint</Application>
  <PresentationFormat>On-screen Show (16:9)</PresentationFormat>
  <Paragraphs>327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Vendor Sales Performance Analytics</dc:title>
  <dc:subject>PptxGenJS Presentation</dc:subject>
  <dc:creator>Mohith</dc:creator>
  <cp:lastModifiedBy>Mohith V</cp:lastModifiedBy>
  <cp:revision>2</cp:revision>
  <dcterms:created xsi:type="dcterms:W3CDTF">2026-06-15T12:03:27Z</dcterms:created>
  <dcterms:modified xsi:type="dcterms:W3CDTF">2026-06-15T12:06:50Z</dcterms:modified>
</cp:coreProperties>
</file>